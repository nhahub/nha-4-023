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Urbanist Medium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UrbanistMedium-regular.fntdata"/><Relationship Id="rId21" Type="http://schemas.openxmlformats.org/officeDocument/2006/relationships/slide" Target="slides/slide16.xml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403b0139_1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403b0139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4403b013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4403b0139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403b013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4403b0139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403b013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4403b0139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4403b0139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4403b0139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Relationship Id="rId8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78384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Hybrid AI </a:t>
            </a: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Movie Recommender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1364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Comprehensive Technical Deep-Dive into Advanced Recommendation Systems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84166"/>
            <a:ext cx="110490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Youssef Ibrahim</a:t>
            </a:r>
            <a:endParaRPr sz="15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Karem osama</a:t>
            </a:r>
            <a:endParaRPr sz="15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Mohamed hamdy</a:t>
            </a:r>
            <a:endParaRPr sz="15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Ahmed Yasser</a:t>
            </a:r>
            <a:endParaRPr sz="15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Zeyad mohamed</a:t>
            </a:r>
            <a:endParaRPr sz="15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اعملي صورة للشريحة دي وحطها عاليمين "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35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3737"/>
            <a:ext cx="523875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24336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modern user is overwhelmed by thousands of titles, yet typically interacts with less than 0.1% of the database.</a:t>
            </a:r>
            <a:endParaRPr/>
          </a:p>
        </p:txBody>
      </p:sp>
      <p:pic>
        <p:nvPicPr>
          <p:cNvPr descr="image.png" id="101" name="Google Shape;1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431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624262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Sparsity Problem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413861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 algorithms struggle when user-item interaction matrices are mostly empty, leading to inaccurate suggestions.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Challenge: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Sparsity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9071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05200"/>
            <a:ext cx="52863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71500" y="2047875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Problem: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71500" y="2457450"/>
            <a:ext cx="52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Movie titles were polluted with year data like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"Toy Story (1995)"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This noise confused search engines and skewed the TF-IDF feature weights during vectorization.</a:t>
            </a:r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6">
            <a:alphaModFix/>
          </a:blip>
          <a:srcRect b="0" l="13050" r="13057" t="0"/>
          <a:stretch/>
        </p:blipFill>
        <p:spPr>
          <a:xfrm>
            <a:off x="6343650" y="1900237"/>
            <a:ext cx="5267324" cy="398179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14400" y="3848100"/>
            <a:ext cx="483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Solution: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14400" y="4343400"/>
            <a:ext cx="460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Implemented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Regex Engineering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surgically extract years into a discrete feature column and strip titles for pure string matching.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571500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Challenge: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Dirty Metadata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3125"/>
            <a:ext cx="5405437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37" y="2143125"/>
            <a:ext cx="5405437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914400" y="2990850"/>
            <a:ext cx="4955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New User Obstacle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14400" y="3486150"/>
            <a:ext cx="471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New users have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zero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history. Matrix Factorization (SVD) fails instantly as it has no behavioral latent features to anchor on.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14400" y="4533900"/>
            <a:ext cx="4719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Fallback to Session Context (Content-Based) only.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557962" y="2990850"/>
            <a:ext cx="4955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New Item Obstacle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557962" y="3486150"/>
            <a:ext cx="471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Newly released films have no ratings. Collaborative Filtering treats them as "Invisible," preventing organic discovery by users.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6557962" y="4533900"/>
            <a:ext cx="4719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Similarity anchoring via Genre Metadata vectors.</a:t>
            </a:r>
            <a:endParaRPr/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5050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962" y="25050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571500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Challenge: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Cold Start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571500" y="571500"/>
            <a:ext cx="520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Challenge: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Popularity Bias</a:t>
            </a:r>
            <a:endParaRPr/>
          </a:p>
        </p:txBody>
      </p:sp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2763291"/>
            <a:ext cx="49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Common genres like "Drama" occur in thousands of titles, while "Film-Noir" is rare. Simple frequency counts would result in shallow, generic recommendations.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5075783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Fix: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We used TF-IDF to penalize ubiquitous genres and grant "Golden Weights" to unique category markers.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295275" y="1181100"/>
            <a:ext cx="11601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Content Based</a:t>
            </a:r>
            <a:endParaRPr sz="60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571500" y="220980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6050" y="2454925"/>
            <a:ext cx="6740425" cy="38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54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719339"/>
            <a:ext cx="5238750" cy="93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804987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6381750" y="2223789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apply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TF-IDF Vectorization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movie genres to weigh unique categories (e.g., "Film-Noir") higher than generic ones (e.g., "Drama").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667500" y="3328689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Regex cleanup for year extraction from titles.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667500" y="377636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Min-Max Scaling for normalized rating inputs.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667500" y="4224039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Multi-Label Binarization for categorical genres.</a:t>
            </a:r>
            <a:endParaRPr/>
          </a:p>
        </p:txBody>
      </p:sp>
      <p:pic>
        <p:nvPicPr>
          <p:cNvPr descr="image.png" id="164" name="Google Shape;16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9173" y="5014614"/>
            <a:ext cx="2183903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6381750" y="3328689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381750" y="3776364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381750" y="4224039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TF-IDF &amp;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Genre Mastery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35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571500" y="2519064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engine focuses purely on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Item Metadata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It builds a similarity matrix using the angle between movie vectors.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71500" y="444371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Primary Benefit: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Solves the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Item Cold Start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problem—new movies can be recommended as soon as genres are assigned.</a:t>
            </a:r>
            <a:endParaRPr/>
          </a:p>
        </p:txBody>
      </p:sp>
      <p:pic>
        <p:nvPicPr>
          <p:cNvPr descr="image.png" id="177" name="Google Shape;17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43112"/>
            <a:ext cx="521969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6374" y="3614439"/>
            <a:ext cx="2488852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Content-Based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Logic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763" y="3414975"/>
            <a:ext cx="5032476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571500" y="571500"/>
            <a:ext cx="520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Tackling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Cold Start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571500" y="178117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New users and new items represent "Cold" entities. Our hybrid system acts as a thermal regulator: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961938" y="3968400"/>
            <a:ext cx="417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Item Cold Start: Content-Based vectors allow recommendations without a single rating.</a:t>
            </a:r>
            <a:endParaRPr b="1"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b="1"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89" name="Google Shape;18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35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431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>
            <a:off x="6381750" y="23860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Using the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Surprise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library, we implement Singular Value Decomposition (SVD) to uncover latent features.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381750" y="48815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It captures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Personalization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by learning what similar users enjoyed in the past.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6667500" y="31861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Decomposes User-Item matrix into low-rank representations.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6667500" y="393858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Identifies "hidden" themes in user behavior.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6667500" y="43862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Predicts the numerical rating for unseen movies.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6381750" y="31861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6381750" y="39385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6381750" y="43862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Matrix Factorization: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SVD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0675"/>
            <a:ext cx="34924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590675"/>
            <a:ext cx="349254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1590675"/>
            <a:ext cx="34924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7255" y="5324475"/>
            <a:ext cx="181734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962025" y="2628900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Recall Phase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962025" y="3143250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Content-Based Filtering filters the top 100 similar movies based on the queried title.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4740175" y="262890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Ranking Phase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4740175" y="314325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SVD predicts user ratings for the candidates and ranks them according to specific user tastes.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8518475" y="2628900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Final Selection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8518475" y="3143250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top 5 hyper-personalized recommendations are served to the interface.</a:t>
            </a:r>
            <a:endParaRPr/>
          </a:p>
        </p:txBody>
      </p:sp>
      <p:pic>
        <p:nvPicPr>
          <p:cNvPr descr="image.png" id="221" name="Google Shape;2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009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175" y="20097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475" y="20097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Cascade Hybrid</a:t>
            </a: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Design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1275"/>
            <a:ext cx="49530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571500" y="571500"/>
            <a:ext cx="52006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Tackling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Cold Start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571500" y="17811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New users and new items represent "Cold" entities. Our hybrid system acts as a thermal regulator: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962025" y="3162300"/>
            <a:ext cx="4172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User Cold Start: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We use real-time session search context (Fallback) until enough ratings trigger the SVD engine.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962025" y="5124450"/>
            <a:ext cx="417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35" name="Google Shape;23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6"/>
          <p:cNvSpPr txBox="1"/>
          <p:nvPr/>
        </p:nvSpPr>
        <p:spPr>
          <a:xfrm>
            <a:off x="571500" y="22700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quantify performance using statistical error metrics on the test set.</a:t>
            </a:r>
            <a:endParaRPr/>
          </a:p>
        </p:txBody>
      </p:sp>
      <p:pic>
        <p:nvPicPr>
          <p:cNvPr descr="image.png" id="242" name="Google Shape;2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4728" y="3365450"/>
            <a:ext cx="3112293" cy="5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/>
        </p:nvSpPr>
        <p:spPr>
          <a:xfrm>
            <a:off x="857250" y="4444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RMSE: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Aiming for &lt; 0.9 for high accuracy.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857250" y="48925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Measuring absolute prediction deviation.</a:t>
            </a:r>
            <a:endParaRPr/>
          </a:p>
        </p:txBody>
      </p:sp>
      <p:sp>
        <p:nvSpPr>
          <p:cNvPr id="245" name="Google Shape;245;p26"/>
          <p:cNvSpPr txBox="1"/>
          <p:nvPr/>
        </p:nvSpPr>
        <p:spPr>
          <a:xfrm>
            <a:off x="857250" y="53402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Sanity Check: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Manual verification for genre consistency.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571500" y="44449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571500" y="48925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571500" y="53402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Validation &amp;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Metrics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35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431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6381750" y="27336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is deployed using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Streamlit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providing a seamless user experience.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6667500" y="35337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Real-time search-to-recommendation pipeline.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6667500" y="39814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Cloud integration for global accessibility.</a:t>
            </a:r>
            <a:endParaRPr/>
          </a:p>
        </p:txBody>
      </p:sp>
      <p:sp>
        <p:nvSpPr>
          <p:cNvPr id="260" name="Google Shape;260;p27"/>
          <p:cNvSpPr txBox="1"/>
          <p:nvPr/>
        </p:nvSpPr>
        <p:spPr>
          <a:xfrm>
            <a:off x="6667500" y="44291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Efficient caching mechanisms for rapid matrix lookup.</a:t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6667500" y="4876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Personalized dashboard per User ID.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6381750" y="35337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6381750" y="39814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6381750" y="44291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6381750" y="4876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Interactive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Deployment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/>
          <p:cNvSpPr txBox="1"/>
          <p:nvPr/>
        </p:nvSpPr>
        <p:spPr>
          <a:xfrm>
            <a:off x="295275" y="1922115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Any </a:t>
            </a:r>
            <a:r>
              <a:rPr b="0" i="0" lang="en-US" sz="9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571500" y="35604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 The project code is available on GitHub.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571500" y="472618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